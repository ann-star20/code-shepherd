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4CAF50"/>
                </a:solidFill>
              </a:rPr>
              <a:t>Task-Link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BEC5"/>
                </a:solidFill>
              </a:rPr>
              <a:t>AI 멀티 에이전트 기반 PR 코드 리뷰 자동화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A28"/>
                </a:solidFill>
              </a:rPr>
              <a:t>Dev2 — 정적 분석 + 보안 스캔 에이전트  |  단독 설계·구현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097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EC5"/>
                </a:solidFill>
              </a:rPr>
              <a:t>1 / 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9496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2A5F5"/>
                </a:solidFill>
              </a:rPr>
              <a:t>프로젝트 정보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CA28"/>
                </a:solidFill>
              </a:rPr>
              <a:t>기간 / 인원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965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2026년 5월  ·  6주  ·  6명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4144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CA28"/>
                </a:solidFill>
              </a:rPr>
              <a:t>내 역할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441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Dev2 — 정적 분석 + 보안 스캔 단독 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16936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CA28"/>
                </a:solidFill>
              </a:rPr>
              <a:t>기술 스택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91693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LangGraph · Claude API · pgVector · 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39242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BigQuery · Airflow · LangSmith · Bandit · ESLint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463040"/>
            <a:ext cx="576072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554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2A5F5"/>
                </a:solidFill>
              </a:rPr>
              <a:t>왜 만들었나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9659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  시니어, 신입 PR 리뷰에  하루 1~2시간 소비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44144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  SQL 인젝션 · N+1 쿼리 반복 실수에 매번 같은 피드백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916936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  PR 피드백 지연  -&gt;  개발 흐름 단절, 성장 추적 불가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392424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  반복 실수 패턴을 조직 차원에서 데이터로 파악 불가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60520"/>
            <a:ext cx="11457432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251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CAF50"/>
                </a:solidFill>
              </a:rPr>
              <a:t>기대 효과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617720"/>
            <a:ext cx="2743200" cy="173736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709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0BEC5"/>
                </a:solidFill>
              </a:rPr>
              <a:t>시니어 리뷰 부담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0749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CA28"/>
                </a:solidFill>
              </a:rPr>
              <a:t>70% 감소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0128" y="4617720"/>
            <a:ext cx="2743200" cy="173736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47288" y="4709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0BEC5"/>
                </a:solidFill>
              </a:rPr>
              <a:t>PR 피드백 속도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50749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CA28"/>
                </a:solidFill>
              </a:rPr>
              <a:t>즉시 자동화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4496" y="4617720"/>
            <a:ext cx="2743200" cy="173736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1656" y="4709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0BEC5"/>
                </a:solidFill>
              </a:rPr>
              <a:t>실수 패턴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50749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CA28"/>
                </a:solidFill>
              </a:rPr>
              <a:t>데이터 정량화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98864" y="4617720"/>
            <a:ext cx="2743200" cy="173736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36024" y="4709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0BEC5"/>
                </a:solidFill>
              </a:rPr>
              <a:t>AI 비용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36024" y="50749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CA28"/>
                </a:solidFill>
              </a:rPr>
              <a:t>모델 라우팅 통제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C5"/>
                </a:solidFill>
              </a:rPr>
              <a:t>AX / DX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문제 — 원인 — 해결  +  나의 액션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EC5"/>
                </a:solidFill>
              </a:rPr>
              <a:t>2 / 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3749039" cy="3474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4224527" y="868680"/>
            <a:ext cx="3749039" cy="34747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24527" y="8686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핵심 원인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8083294" y="868680"/>
            <a:ext cx="3749039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83294" y="8686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해결 방향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252728"/>
            <a:ext cx="3749039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89304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반복 실수를 사람이 매번 검토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7" y="1252728"/>
            <a:ext cx="3749039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7" y="1289304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CLI 도구가 CI에 통합 안 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4" y="1252728"/>
            <a:ext cx="3749039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4" y="1289304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PR 수신 시 자동 분석 파이프라인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728216"/>
            <a:ext cx="3749039" cy="43891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764792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severity 기준이 주관적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4527" y="1728216"/>
            <a:ext cx="3749039" cy="43891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7" y="1764792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도구 판단만으론 context 부족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4" y="1728216"/>
            <a:ext cx="3749039" cy="43891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4" y="1764792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RAG + LLM Judge severity 재판단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203704"/>
            <a:ext cx="3749039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240280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과거 실수와 학습 연결 안 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4527" y="2203704"/>
            <a:ext cx="3749039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7" y="2240280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이슈 이력 연결 체계 없음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83294" y="2203704"/>
            <a:ext cx="3749039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4" y="2240280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pgVector 유사 이슈 LLM context 주입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743200"/>
            <a:ext cx="11457432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834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나의 액션  (Dev2 단독 구현)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264408"/>
            <a:ext cx="57607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300984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33009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LangGraph 5-노드 Agentic 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36484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5"/>
                </a:solidFill>
              </a:rPr>
              <a:t>conditional edge — Critical 감지 시 실행 경로 자동 분기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105656"/>
            <a:ext cx="5760720" cy="7772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14223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1422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7개 언어 분석 도구 통합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48970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5"/>
                </a:solidFill>
              </a:rPr>
              <a:t>Python · JS · C# · HTML · CSS — Pydantic으로 통일 스키마 정규화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946904"/>
            <a:ext cx="57607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98348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9834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pgVector RAG 유사 이슈 검색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3309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5"/>
                </a:solidFill>
              </a:rPr>
              <a:t>코사인 유사도 0.7 이상 과거 이슈 -&gt; LLM context 주입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788152"/>
            <a:ext cx="5760720" cy="7772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82472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8247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비용 최적화 모델 라우팅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61722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5"/>
                </a:solidFill>
              </a:rPr>
              <a:t>Critical-&gt;Sonnet  /  Major-&gt;Haiku  /  Minor-&gt;LLM 생략(비용 0)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3264408"/>
            <a:ext cx="57607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300984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33009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OLTP + OLAP 이중 적재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36484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5"/>
                </a:solidFill>
              </a:rPr>
              <a:t>PostgreSQL(운영 조회) + BigQuery(분석) 목적별 분리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4105656"/>
            <a:ext cx="5760720" cy="7772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414223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41422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Airflow DAG 자동화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448970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5"/>
                </a:solidFill>
              </a:rPr>
              <a:t>일일 ETL + 주간 개발자별 실수 패턴 리포트 자동 스케줄링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4946904"/>
            <a:ext cx="57607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498348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49834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LangSmith Observability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53309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5"/>
                </a:solidFill>
              </a:rPr>
              <a:t>AI 판단 전 과정 트레이싱 — config 주입, 코드 내 하드코딩 없음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5788152"/>
            <a:ext cx="5760720" cy="7772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582472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⑧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58247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Mock/실제 전환 설계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66560" y="61722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5"/>
                </a:solidFill>
              </a:rPr>
              <a:t>USE_MOCK_LLM 환경변수 하나로 전환 -&gt; 팀 6명 병렬 개발 실현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C5"/>
                </a:solidFill>
              </a:rPr>
              <a:t>AX / DX Portfolio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결과물  +  성장한 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EC5"/>
                </a:solidFill>
              </a:rPr>
              <a:t>3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2A5F5"/>
                </a:solidFill>
              </a:rPr>
              <a:t>구현 파이프라인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103120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run_tools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9344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Bandit · Pylint
ESLint · Semgrep
7개 언어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57276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CAF50"/>
                </a:solidFill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4912" y="1234440"/>
            <a:ext cx="2103120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12618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vector_search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1609344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pgVector RAG
유사 이슈 검색
유사도 &gt;= 0.7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157276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CAF50"/>
                </a:solidFill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4064" y="1234440"/>
            <a:ext cx="2103120" cy="100584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5504" y="12618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llm_judge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1609344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Claude
Sonnet / Haiku
모델 라우팅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7184" y="157276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CAF50"/>
                </a:solidFill>
              </a:rP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43216" y="1234440"/>
            <a:ext cx="2103120" cy="100584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34656" y="12618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escalate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4656" y="1609344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Critical-&gt;Dev4
조건부 분기
LangSmith 추적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46336" y="157276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CAF50"/>
                </a:solidFill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02368" y="1234440"/>
            <a:ext cx="2103120" cy="1005840"/>
          </a:xfrm>
          <a:prstGeom prst="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93808" y="12618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1609344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PostgreSQL
+ BigQuery
Airflow DAG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377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2A5F5"/>
                </a:solidFill>
              </a:rPr>
              <a:t>완성물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7157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FastAPI:  POST /scan  /  GET /insights  /  GET /issues  /  PATCH /dismiss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063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Airflow DAG:  일일 ETL + 주간 개발자별 실수 패턴 리포트 자동화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4107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PostgreSQL 3-테이블:  scan_executions -&gt; scan_issues -&gt; scan_summaries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75818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E2E 테스트 통과  /  LangSmith Observability 체계  /  Dev2 단독 구현 완료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114800"/>
            <a:ext cx="11457432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CAF50"/>
                </a:solidFill>
              </a:rPr>
              <a:t>성장한 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572000"/>
            <a:ext cx="2743200" cy="2103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6451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A28"/>
                </a:solidFill>
              </a:rPr>
              <a:t>기술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0292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LangGraph Agentic Workflow
RAG 파이프라인 설계
asyncio 에러 격리
LangSmith Observability
Airflow DAG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10128" y="4572000"/>
            <a:ext cx="2743200" cy="2103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47288" y="46451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A28"/>
                </a:solidFill>
              </a:rPr>
              <a:t>설계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47288" y="50292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에러 케이스 먼저 정의
-&gt; fallback 선 구현
asyncio 타임아웃 버그
발견 -&gt; 팀 규칙 문서화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54496" y="4572000"/>
            <a:ext cx="2743200" cy="21031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1656" y="46451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A28"/>
                </a:solidFill>
              </a:rPr>
              <a:t>협업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1656" y="50292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Pydantic Output Contract
명문화 -&gt; 팀 병렬 개발
Mock 전환 구조 설계
연동 가이드 문서 작성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98864" y="4572000"/>
            <a:ext cx="2743200" cy="2103120"/>
          </a:xfrm>
          <a:prstGeom prst="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36024" y="46451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A28"/>
                </a:solidFill>
              </a:rPr>
              <a:t>비즈니스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36024" y="50292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기술 선택을 비즈니스
목표에서 역산
AI 비용을 설계 단계
에서 통제하는 경험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C5"/>
                </a:solidFill>
              </a:rPr>
              <a:t>AX / DX Portfolio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역량·기여  +  면접 한 줄 어필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EC5"/>
                </a:solidFill>
              </a:rPr>
              <a:t>4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2A5F5"/>
                </a:solidFill>
              </a:rPr>
              <a:t>역량  -&gt;  AX/DX 직무 기여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2560320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61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역량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261872"/>
            <a:ext cx="489204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26187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프로젝트 근거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261872"/>
            <a:ext cx="3931920" cy="32004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26187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직무 기여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18488"/>
            <a:ext cx="2560320" cy="37490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645920"/>
            <a:ext cx="2450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CA28"/>
                </a:solidFill>
              </a:rPr>
              <a:t>AI 파이프라인 설계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618488"/>
            <a:ext cx="4892040" cy="37490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1645920"/>
            <a:ext cx="4782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LangGraph Agentic Workflow end-to-end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618488"/>
            <a:ext cx="3931920" cy="37490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1645920"/>
            <a:ext cx="38221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AF50"/>
                </a:solidFill>
              </a:rPr>
              <a:t>AI 내재화 과제 직접 설계·실행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020824"/>
            <a:ext cx="2560320" cy="374904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048256"/>
            <a:ext cx="2450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CA28"/>
                </a:solidFill>
              </a:rPr>
              <a:t>업무 자동화 전환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2020824"/>
            <a:ext cx="4892040" cy="374904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2048256"/>
            <a:ext cx="4782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수동 리뷰 -&gt; 자동 분석+에스컬레이션 체계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2020824"/>
            <a:ext cx="3931920" cy="374904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2" y="2048256"/>
            <a:ext cx="38221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AF50"/>
                </a:solidFill>
              </a:rPr>
              <a:t>반복 업무의 AI 전환 기획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423160"/>
            <a:ext cx="2560320" cy="37490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2450592"/>
            <a:ext cx="2450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CA28"/>
                </a:solidFill>
              </a:rPr>
              <a:t>데이터 기반 의사결정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423160"/>
            <a:ext cx="4892040" cy="37490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2450592"/>
            <a:ext cx="4782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BigQuery + Airflow 분석 파이프라인 구축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2423160"/>
            <a:ext cx="3931920" cy="37490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2450592"/>
            <a:ext cx="38221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AF50"/>
                </a:solidFill>
              </a:rPr>
              <a:t>성과 측정 지표 설계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825496"/>
            <a:ext cx="2560320" cy="374904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2852928"/>
            <a:ext cx="2450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CA28"/>
                </a:solidFill>
              </a:rPr>
              <a:t>AI 비용 최적화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825496"/>
            <a:ext cx="4892040" cy="374904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2852928"/>
            <a:ext cx="4782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모델 라우팅으로 LLM 호출 비용 구조 설계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2825496"/>
            <a:ext cx="3931920" cy="374904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9872" y="2852928"/>
            <a:ext cx="38221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AF50"/>
                </a:solidFill>
              </a:rPr>
              <a:t>LLM 도입 TCO 관리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227832"/>
            <a:ext cx="2560320" cy="37490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3255264"/>
            <a:ext cx="2450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CA28"/>
                </a:solidFill>
              </a:rPr>
              <a:t>AI Observability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3227832"/>
            <a:ext cx="4892040" cy="37490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90672" y="3255264"/>
            <a:ext cx="4782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LangSmith 트레이싱 — config 주입 설계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3227832"/>
            <a:ext cx="3931920" cy="37490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19872" y="3255264"/>
            <a:ext cx="38221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AF50"/>
                </a:solidFill>
              </a:rPr>
              <a:t>AI 품질 모니터링 체계 구축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630168"/>
            <a:ext cx="2560320" cy="374904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3657600"/>
            <a:ext cx="2450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CA28"/>
                </a:solidFill>
              </a:rPr>
              <a:t>협업 설계 역량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17520" y="3630168"/>
            <a:ext cx="4892040" cy="374904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90672" y="3657600"/>
            <a:ext cx="4782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Mock 전환 + Pydantic Contract 명문화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3630168"/>
            <a:ext cx="3931920" cy="374904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19872" y="3657600"/>
            <a:ext cx="38221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AF50"/>
                </a:solidFill>
              </a:rPr>
              <a:t>팀 AI 도입 인터페이스 설계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096512"/>
            <a:ext cx="11430000" cy="566928"/>
          </a:xfrm>
          <a:prstGeom prst="rect">
            <a:avLst/>
          </a:prstGeom>
          <a:solidFill>
            <a:srgbClr val="2E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" y="4096512"/>
            <a:ext cx="64008" cy="566928"/>
          </a:xfrm>
          <a:prstGeom prst="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4133087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CA28"/>
                </a:solidFill>
              </a:rPr>
              <a:t>핵심 시행착오: asyncio.TimeoutError를 async with 블록 안에서 잡으면 DB에 success 기록 버그  -&gt;  try/except를 블록 바깥으로 이동 + 팀 규칙 문서화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773168"/>
            <a:ext cx="11457432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48463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면접 한 줄 어필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257800"/>
            <a:ext cx="11430000" cy="1188720"/>
          </a:xfrm>
          <a:prstGeom prst="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5760" y="5257800"/>
            <a:ext cx="64008" cy="1188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53035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</a:rPr>
              <a:t>"AI를 도구로 쓰는 것에 그치지 않고, AI 판단이 실제 업무 프로세스의 실행 경로를 바꾸는 Agentic Workflow를 설계·구현했고,
Observability와 비용 통제까지 처음부터 설계한 경험이 있습니다.
AX/DX 현장에서 AI 내재화 과제에 바로 기여할 수 있습니다."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6492240"/>
            <a:ext cx="1271016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8912" y="6510528"/>
            <a:ext cx="1179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2A5F5"/>
                </a:solidFill>
              </a:rPr>
              <a:t>LangGraph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55648" y="6492240"/>
            <a:ext cx="137160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2880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2A5F5"/>
                </a:solidFill>
              </a:rPr>
              <a:t>Claude API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46120" y="6492240"/>
            <a:ext cx="1773936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19272" y="6510528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2A5F5"/>
                </a:solidFill>
              </a:rPr>
              <a:t>RAG / pgVector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38928" y="6492240"/>
            <a:ext cx="1069848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12080" y="6510528"/>
            <a:ext cx="978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2A5F5"/>
                </a:solidFill>
              </a:rPr>
              <a:t>FastAPI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27648" y="6492240"/>
            <a:ext cx="117043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0" y="6510528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2A5F5"/>
                </a:solidFill>
              </a:rPr>
              <a:t>BigQuery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16952" y="6492240"/>
            <a:ext cx="1069848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90104" y="6510528"/>
            <a:ext cx="978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2A5F5"/>
                </a:solidFill>
              </a:rPr>
              <a:t>Airflow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05672" y="6492240"/>
            <a:ext cx="1271016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78824" y="6510528"/>
            <a:ext cx="1179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2A5F5"/>
                </a:solidFill>
              </a:rPr>
              <a:t>LangSmith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